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b3179d5-56b7-cbdd-8595-fe4f8a96beee}">
          <p14:sldIdLst>
            <p14:sldId id="256"/>
          </p14:sldIdLst>
        </p14:section>
        <p14:section name="Overview" id="{e46dcefe-ecf3-78ff-20c0-e5819c0c47e0}">
          <p14:sldIdLst>
            <p14:sldId id="257"/>
            <p14:sldId id="258"/>
            <p14:sldId id="259"/>
            <p14:sldId id="260"/>
          </p14:sldIdLst>
        </p14:section>
        <p14:section name="Design" id="{f0dedfb5-0537-7464-f543-f1cb8fc1bd38}">
          <p14:sldIdLst>
            <p14:sldId id="261"/>
            <p14:sldId id="262"/>
            <p14:sldId id="263"/>
            <p14:sldId id="264"/>
            <p14:sldId id="265"/>
          </p14:sldIdLst>
        </p14:section>
        <p14:section name="Evaluation" id="{375a5891-ac6f-ad5c-3e42-5f90a7cd88cf}">
          <p14:sldIdLst>
            <p14:sldId id="266"/>
            <p14:sldId id="267"/>
          </p14:sldIdLst>
        </p14:section>
        <p14:section name="Conclusion" id="{abc0dd6c-f974-13ff-5c8f-81660ae174f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LU 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01168"/>
            <a:ext cx="1371600" cy="579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Memory Leak Detection and Reporting Tool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LU 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01168"/>
            <a:ext cx="1371600" cy="579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Memory Leak Detection and Reporting Tool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LU 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01168"/>
            <a:ext cx="1371600" cy="57973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OPERATING SYSTEMS PROJECT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Leak Detection and Reporting Tool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GUIDE: Raghupathi 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52628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BATCH: 2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K. Badari Narayana  -  2520090165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D. Varun Teja Reddy  -  2520090221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P. Bhavan  -  2520090146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Department: CSIT</a:t>
            </a:r>
            <a:endParaRPr lang="en-US" sz="1500" dirty="0"/>
          </a:p>
        </p:txBody>
      </p:sp>
      <p:sp>
        <p:nvSpPr>
          <p:cNvPr id="8" name="Terminal Card"/>
          <p:cNvSpPr/>
          <p:nvPr/>
        </p:nvSpPr>
        <p:spPr>
          <a:xfrm>
            <a:off x="6583680" y="1463040"/>
            <a:ext cx="493776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9" name="Dot"/>
          <p:cNvSpPr/>
          <p:nvPr/>
        </p:nvSpPr>
        <p:spPr>
          <a:xfrm>
            <a:off x="6858000" y="1737360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0" name="Dot"/>
          <p:cNvSpPr/>
          <p:nvPr/>
        </p:nvSpPr>
        <p:spPr>
          <a:xfrm>
            <a:off x="7132320" y="1737360"/>
            <a:ext cx="182880" cy="1828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Dot"/>
          <p:cNvSpPr/>
          <p:nvPr/>
        </p:nvSpPr>
        <p:spPr>
          <a:xfrm>
            <a:off x="7406640" y="1737360"/>
            <a:ext cx="182880" cy="182880"/>
          </a:xfrm>
          <a:prstGeom prst="ellipse">
            <a:avLst/>
          </a:prstGeom>
          <a:solidFill>
            <a:srgbClr val="2DB38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0" y="224028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./memleak leaky_app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[alloc] 1024 bytes @ 0x5581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D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[free]  0x5581 released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[alloc] 4096 bytes @ 0x55a9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[leak]  4096 bytes not freed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[rss]   VmRSS 18432 kB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D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[report] leak_report.txt saved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Abstract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Icon Tile"/>
          <p:cNvSpPr/>
          <p:nvPr/>
        </p:nvSpPr>
        <p:spPr>
          <a:xfrm>
            <a:off x="822960" y="16276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5" name="Icon FaMemor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70278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Tracks allocations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7004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Records every malloc(), calloc(), realloc() and free() call.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7304" y="137160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Icon Tile"/>
          <p:cNvSpPr/>
          <p:nvPr/>
        </p:nvSpPr>
        <p:spPr>
          <a:xfrm>
            <a:off x="4611624" y="16276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10" name="Icon FaBu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270" y="177027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1624" y="22860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Detects leaks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11624" y="267004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Finds memory blocks that are allocated but never freed.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5968" y="137160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Icon Tile"/>
          <p:cNvSpPr/>
          <p:nvPr/>
        </p:nvSpPr>
        <p:spPr>
          <a:xfrm>
            <a:off x="8400288" y="16276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15" name="Icon FaChartLi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934" y="1770278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0288" y="22860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Monitors memory growth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00288" y="267004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Reads VmRSS from /proc to show usage over time.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74904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Icon Tile"/>
          <p:cNvSpPr/>
          <p:nvPr/>
        </p:nvSpPr>
        <p:spPr>
          <a:xfrm>
            <a:off x="822960" y="40050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20" name="Icon FaDeskto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147718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6634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Graphical dashboard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4748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Shows process ID, memory usage and detected leaks.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337304" y="374904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Icon Tile"/>
          <p:cNvSpPr/>
          <p:nvPr/>
        </p:nvSpPr>
        <p:spPr>
          <a:xfrm>
            <a:off x="4611624" y="40050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25" name="Icon FaFileA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270" y="4147718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1624" y="46634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Leak reports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11624" y="504748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Saves timestamped reports with leaked blocks and bytes.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125968" y="374904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9" name="Icon Tile"/>
          <p:cNvSpPr/>
          <p:nvPr/>
        </p:nvSpPr>
        <p:spPr>
          <a:xfrm>
            <a:off x="8400288" y="40050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30" name="Icon FaMicrochip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934" y="4147718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00288" y="46634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OS concepts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00288" y="504748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Demonstrates heap, virtual memory and dynamic linking.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61264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Icon Tile"/>
          <p:cNvSpPr/>
          <p:nvPr/>
        </p:nvSpPr>
        <p:spPr>
          <a:xfrm>
            <a:off x="777240" y="1600200"/>
            <a:ext cx="502920" cy="502920"/>
          </a:xfrm>
          <a:prstGeom prst="ellipse">
            <a:avLst>
              <a:gd name="adj" fmla="val 18182"/>
            </a:avLst>
          </a:prstGeom>
          <a:solidFill>
            <a:srgbClr val="E5484D"/>
          </a:solidFill>
          <a:ln/>
        </p:spPr>
      </p:sp>
      <p:pic>
        <p:nvPicPr>
          <p:cNvPr id="5" name="Icon FaExclamationTriang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309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63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Programs may allocate memory and forget to free it.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2514600"/>
            <a:ext cx="61264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8" name="Icon Tile"/>
          <p:cNvSpPr/>
          <p:nvPr/>
        </p:nvSpPr>
        <p:spPr>
          <a:xfrm>
            <a:off x="777240" y="2743200"/>
            <a:ext cx="502920" cy="502920"/>
          </a:xfrm>
          <a:prstGeom prst="ellipse">
            <a:avLst>
              <a:gd name="adj" fmla="val 18182"/>
            </a:avLst>
          </a:prstGeom>
          <a:solidFill>
            <a:srgbClr val="E5484D"/>
          </a:solidFill>
          <a:ln/>
        </p:spPr>
      </p:sp>
      <p:pic>
        <p:nvPicPr>
          <p:cNvPr id="9" name="Icon FaChartLi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287395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Leaked memory keeps growing and slows the system.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48640" y="3657600"/>
            <a:ext cx="61264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Icon Tile"/>
          <p:cNvSpPr/>
          <p:nvPr/>
        </p:nvSpPr>
        <p:spPr>
          <a:xfrm>
            <a:off x="777240" y="3886200"/>
            <a:ext cx="502920" cy="502920"/>
          </a:xfrm>
          <a:prstGeom prst="ellipse">
            <a:avLst>
              <a:gd name="adj" fmla="val 18182"/>
            </a:avLst>
          </a:prstGeom>
          <a:solidFill>
            <a:srgbClr val="E5484D"/>
          </a:solidFill>
          <a:ln/>
        </p:spPr>
      </p:sp>
      <p:pic>
        <p:nvPicPr>
          <p:cNvPr id="13" name="Icon Fa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01695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749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Finding leaks by reading code manually is slow and error-prone.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548640" y="4800600"/>
            <a:ext cx="61264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Icon Tile"/>
          <p:cNvSpPr/>
          <p:nvPr/>
        </p:nvSpPr>
        <p:spPr>
          <a:xfrm>
            <a:off x="777240" y="5029200"/>
            <a:ext cx="502920" cy="502920"/>
          </a:xfrm>
          <a:prstGeom prst="ellipse">
            <a:avLst>
              <a:gd name="adj" fmla="val 18182"/>
            </a:avLst>
          </a:prstGeom>
          <a:solidFill>
            <a:srgbClr val="E5484D"/>
          </a:solidFill>
          <a:ln/>
        </p:spPr>
      </p:sp>
      <p:pic>
        <p:nvPicPr>
          <p:cNvPr id="17" name="Icon FaBu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515995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4892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Developers need a simple way to detect and report leaks.</a:t>
            </a:r>
            <a:endParaRPr lang="en-US" sz="1600" dirty="0"/>
          </a:p>
        </p:txBody>
      </p:sp>
      <p:sp>
        <p:nvSpPr>
          <p:cNvPr id="19" name="Solution Card"/>
          <p:cNvSpPr/>
          <p:nvPr/>
        </p:nvSpPr>
        <p:spPr>
          <a:xfrm>
            <a:off x="7040880" y="1371600"/>
            <a:ext cx="4599432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20" name="Icon Tile"/>
          <p:cNvSpPr/>
          <p:nvPr/>
        </p:nvSpPr>
        <p:spPr>
          <a:xfrm>
            <a:off x="7360920" y="16916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A524"/>
          </a:solidFill>
          <a:ln/>
        </p:spPr>
      </p:sp>
      <p:pic>
        <p:nvPicPr>
          <p:cNvPr id="21" name="Icon FaShieldA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3566" y="183428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3609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PROPOSED SOLUTION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7360920" y="2926080"/>
            <a:ext cx="3977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Develop a Linux-based tool that tracks memory allocation, detects blocks that are never freed, and reports leaks through a GUI and a report file.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Objectives Card"/>
          <p:cNvSpPr/>
          <p:nvPr/>
        </p:nvSpPr>
        <p:spPr>
          <a:xfrm>
            <a:off x="548640" y="1371600"/>
            <a:ext cx="3291840" cy="452628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What the tool sets out to do, and how it is reported.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206240" y="1371600"/>
            <a:ext cx="7434072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8" name="Number Badge"/>
          <p:cNvSpPr/>
          <p:nvPr/>
        </p:nvSpPr>
        <p:spPr>
          <a:xfrm>
            <a:off x="4389120" y="146304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716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Monitor memory allocation in a selected test program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206240" y="2029968"/>
            <a:ext cx="7434072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2" name="Number Badge"/>
          <p:cNvSpPr/>
          <p:nvPr/>
        </p:nvSpPr>
        <p:spPr>
          <a:xfrm>
            <a:off x="4389120" y="2121408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0299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Track every malloc(), calloc(), realloc() and free() call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4206240" y="2688336"/>
            <a:ext cx="7434072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6" name="Number Badge"/>
          <p:cNvSpPr/>
          <p:nvPr/>
        </p:nvSpPr>
        <p:spPr>
          <a:xfrm>
            <a:off x="4389120" y="2779776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8912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68833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Detect memory blocks that are never freed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4206240" y="3346704"/>
            <a:ext cx="7434072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0" name="Number Badge"/>
          <p:cNvSpPr/>
          <p:nvPr/>
        </p:nvSpPr>
        <p:spPr>
          <a:xfrm>
            <a:off x="4389120" y="3438144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8912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3467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Display process IDs and live memory usage (RSS)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4206240" y="4005072"/>
            <a:ext cx="7434072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4" name="Number Badge"/>
          <p:cNvSpPr/>
          <p:nvPr/>
        </p:nvSpPr>
        <p:spPr>
          <a:xfrm>
            <a:off x="4389120" y="409651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891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40050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Provide a graphical interface for monitoring and reporting</a:t>
            </a:r>
            <a:endParaRPr lang="en-US" sz="1600" dirty="0"/>
          </a:p>
        </p:txBody>
      </p:sp>
      <p:sp>
        <p:nvSpPr>
          <p:cNvPr id="27" name="Card"/>
          <p:cNvSpPr/>
          <p:nvPr/>
        </p:nvSpPr>
        <p:spPr>
          <a:xfrm>
            <a:off x="4206240" y="4663440"/>
            <a:ext cx="7434072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8" name="Number Badge"/>
          <p:cNvSpPr/>
          <p:nvPr/>
        </p:nvSpPr>
        <p:spPr>
          <a:xfrm>
            <a:off x="4389120" y="475488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38912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4663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Generate timestamped leak reports with leaked bytes</a:t>
            </a:r>
            <a:endParaRPr lang="en-US" sz="1600" dirty="0"/>
          </a:p>
        </p:txBody>
      </p:sp>
      <p:sp>
        <p:nvSpPr>
          <p:cNvPr id="31" name="Card"/>
          <p:cNvSpPr/>
          <p:nvPr/>
        </p:nvSpPr>
        <p:spPr>
          <a:xfrm>
            <a:off x="4206240" y="5321808"/>
            <a:ext cx="7434072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32" name="Number Badge"/>
          <p:cNvSpPr/>
          <p:nvPr/>
        </p:nvSpPr>
        <p:spPr>
          <a:xfrm>
            <a:off x="4389120" y="5413248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38912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53218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Demonstrate OS memory-management concepts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Existing System vs Proposed System</a:t>
            </a:r>
            <a:endParaRPr lang="en-US" sz="3200" dirty="0"/>
          </a:p>
        </p:txBody>
      </p:sp>
      <p:sp>
        <p:nvSpPr>
          <p:cNvPr id="3" name="Header Existing"/>
          <p:cNvSpPr/>
          <p:nvPr/>
        </p:nvSpPr>
        <p:spPr>
          <a:xfrm>
            <a:off x="548640" y="1371600"/>
            <a:ext cx="48463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Existing approach</a:t>
            </a:r>
            <a:endParaRPr lang="en-US" sz="1600" dirty="0"/>
          </a:p>
        </p:txBody>
      </p:sp>
      <p:sp>
        <p:nvSpPr>
          <p:cNvPr id="5" name="Header Proposed"/>
          <p:cNvSpPr/>
          <p:nvPr/>
        </p:nvSpPr>
        <p:spPr>
          <a:xfrm>
            <a:off x="649224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1371600"/>
            <a:ext cx="5148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2103120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Manual code review to find leaks</a:t>
            </a:r>
            <a:endParaRPr lang="en-US" sz="1600" dirty="0"/>
          </a:p>
        </p:txBody>
      </p:sp>
      <p:pic>
        <p:nvPicPr>
          <p:cNvPr id="9" name="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2231136"/>
            <a:ext cx="365760" cy="365760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6492240" y="2103120"/>
            <a:ext cx="5148072" cy="621792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20840" y="21031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Automatic allocation tracking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2862072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286207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visibility of memory growth</a:t>
            </a:r>
            <a:endParaRPr lang="en-US" sz="1600" dirty="0"/>
          </a:p>
        </p:txBody>
      </p:sp>
      <p:pic>
        <p:nvPicPr>
          <p:cNvPr id="14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990088"/>
            <a:ext cx="365760" cy="365760"/>
          </a:xfrm>
          <a:prstGeom prst="rect">
            <a:avLst/>
          </a:prstGeom>
        </p:spPr>
      </p:pic>
      <p:sp>
        <p:nvSpPr>
          <p:cNvPr id="15" name="Card"/>
          <p:cNvSpPr/>
          <p:nvPr/>
        </p:nvSpPr>
        <p:spPr>
          <a:xfrm>
            <a:off x="6492240" y="2862072"/>
            <a:ext cx="5148072" cy="621792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720840" y="286207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Live memory (RSS) monitoring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621024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7240" y="362102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Command-line-only output</a:t>
            </a:r>
            <a:endParaRPr lang="en-US" sz="1600" dirty="0"/>
          </a:p>
        </p:txBody>
      </p:sp>
      <p:pic>
        <p:nvPicPr>
          <p:cNvPr id="19" name="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749040"/>
            <a:ext cx="365760" cy="365760"/>
          </a:xfrm>
          <a:prstGeom prst="rect">
            <a:avLst/>
          </a:prstGeom>
        </p:spPr>
      </p:pic>
      <p:sp>
        <p:nvSpPr>
          <p:cNvPr id="20" name="Card"/>
          <p:cNvSpPr/>
          <p:nvPr/>
        </p:nvSpPr>
        <p:spPr>
          <a:xfrm>
            <a:off x="6492240" y="3621024"/>
            <a:ext cx="5148072" cy="621792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720840" y="362102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GUI leak display</a:t>
            </a:r>
            <a:endParaRPr lang="en-US" sz="1600" dirty="0"/>
          </a:p>
        </p:txBody>
      </p:sp>
      <p:sp>
        <p:nvSpPr>
          <p:cNvPr id="22" name="Card"/>
          <p:cNvSpPr/>
          <p:nvPr/>
        </p:nvSpPr>
        <p:spPr>
          <a:xfrm>
            <a:off x="548640" y="4379976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77240" y="437997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Leaks noted down by hand</a:t>
            </a:r>
            <a:endParaRPr lang="en-US" sz="1600" dirty="0"/>
          </a:p>
        </p:txBody>
      </p:sp>
      <p:pic>
        <p:nvPicPr>
          <p:cNvPr id="24" name="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507992"/>
            <a:ext cx="365760" cy="365760"/>
          </a:xfrm>
          <a:prstGeom prst="rect">
            <a:avLst/>
          </a:prstGeom>
        </p:spPr>
      </p:pic>
      <p:sp>
        <p:nvSpPr>
          <p:cNvPr id="25" name="Card"/>
          <p:cNvSpPr/>
          <p:nvPr/>
        </p:nvSpPr>
        <p:spPr>
          <a:xfrm>
            <a:off x="6492240" y="4379976"/>
            <a:ext cx="5148072" cy="621792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720840" y="437997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Timestamped report file</a:t>
            </a:r>
            <a:endParaRPr lang="en-US" sz="1600" dirty="0"/>
          </a:p>
        </p:txBody>
      </p:sp>
      <p:sp>
        <p:nvSpPr>
          <p:cNvPr id="27" name="Card"/>
          <p:cNvSpPr/>
          <p:nvPr/>
        </p:nvSpPr>
        <p:spPr>
          <a:xfrm>
            <a:off x="548640" y="5138928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77240" y="513892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Heavy tools slow the program</a:t>
            </a:r>
            <a:endParaRPr lang="en-US" sz="1600" dirty="0"/>
          </a:p>
        </p:txBody>
      </p:sp>
      <p:pic>
        <p:nvPicPr>
          <p:cNvPr id="29" name="Arrow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5266944"/>
            <a:ext cx="365760" cy="365760"/>
          </a:xfrm>
          <a:prstGeom prst="rect">
            <a:avLst/>
          </a:prstGeom>
        </p:spPr>
      </p:pic>
      <p:sp>
        <p:nvSpPr>
          <p:cNvPr id="30" name="Card"/>
          <p:cNvSpPr/>
          <p:nvPr/>
        </p:nvSpPr>
        <p:spPr>
          <a:xfrm>
            <a:off x="6492240" y="5138928"/>
            <a:ext cx="5148072" cy="621792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720840" y="513892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Lightweight preloaded library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4" name="Icon Tile"/>
          <p:cNvSpPr/>
          <p:nvPr/>
        </p:nvSpPr>
        <p:spPr>
          <a:xfrm>
            <a:off x="822960" y="1645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1433"/>
          </a:solidFill>
          <a:ln/>
        </p:spPr>
      </p:sp>
      <p:pic>
        <p:nvPicPr>
          <p:cNvPr id="5" name="Icon FaCo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 Programming Language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01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Implements the tracking library that intercepts malloc() and free().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90138" y="137160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9" name="Icon Tile"/>
          <p:cNvSpPr/>
          <p:nvPr/>
        </p:nvSpPr>
        <p:spPr>
          <a:xfrm>
            <a:off x="3664458" y="1645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1433"/>
          </a:solidFill>
          <a:ln/>
        </p:spPr>
      </p:sp>
      <p:pic>
        <p:nvPicPr>
          <p:cNvPr id="10" name="Icon FaLinu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79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46888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Ubuntu Linux / WSL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3200400"/>
            <a:ext cx="201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Provides the Linux environment and the /proc filesystem.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31636" y="137160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4" name="Icon Tile"/>
          <p:cNvSpPr/>
          <p:nvPr/>
        </p:nvSpPr>
        <p:spPr>
          <a:xfrm>
            <a:off x="6505956" y="1645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1433"/>
          </a:solidFill>
          <a:ln/>
        </p:spPr>
      </p:sp>
      <p:pic>
        <p:nvPicPr>
          <p:cNvPr id="15" name="Icon FaPyth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377" y="1812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46888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Tkinter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3200400"/>
            <a:ext cx="201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Builds the graphical dashboard with Start and Stop controls.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073134" y="137160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9" name="Icon Tile"/>
          <p:cNvSpPr/>
          <p:nvPr/>
        </p:nvSpPr>
        <p:spPr>
          <a:xfrm>
            <a:off x="9347454" y="1645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1433"/>
          </a:solidFill>
          <a:ln/>
        </p:spPr>
      </p:sp>
      <p:pic>
        <p:nvPicPr>
          <p:cNvPr id="20" name="Icon FaTermina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875" y="18123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46888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Visual Studio Code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3200400"/>
            <a:ext cx="201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Used to write, organize, and run the project files.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029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Also used: GCC compiler  |  Valgrind (cross-checking results)  |  Git and 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331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Icon Tile"/>
          <p:cNvSpPr/>
          <p:nvPr/>
        </p:nvSpPr>
        <p:spPr>
          <a:xfrm>
            <a:off x="822960" y="1600200"/>
            <a:ext cx="548640" cy="548640"/>
          </a:xfrm>
          <a:prstGeom prst="ellipse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5" name="Icon Fa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Starts or stops the analysis</a:t>
            </a:r>
            <a:endParaRPr lang="en-US" sz="1300" dirty="0"/>
          </a:p>
        </p:txBody>
      </p:sp>
      <p:pic>
        <p:nvPicPr>
          <p:cNvPr id="8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44" y="2286000"/>
            <a:ext cx="310896" cy="310896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3468624" y="1371600"/>
            <a:ext cx="2331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0" name="Icon Tile"/>
          <p:cNvSpPr/>
          <p:nvPr/>
        </p:nvSpPr>
        <p:spPr>
          <a:xfrm>
            <a:off x="3742944" y="1600200"/>
            <a:ext cx="548640" cy="548640"/>
          </a:xfrm>
          <a:prstGeom prst="ellipse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11" name="Icon FaDeskto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590" y="174284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742944" y="2286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Tkinter GUI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742944" y="2651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Displays PID, memory usage and leaks</a:t>
            </a:r>
            <a:endParaRPr lang="en-US" sz="1300" dirty="0"/>
          </a:p>
        </p:txBody>
      </p:sp>
      <p:pic>
        <p:nvPicPr>
          <p:cNvPr id="14" name="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286000"/>
            <a:ext cx="310896" cy="310896"/>
          </a:xfrm>
          <a:prstGeom prst="rect">
            <a:avLst/>
          </a:prstGeom>
        </p:spPr>
      </p:pic>
      <p:sp>
        <p:nvSpPr>
          <p:cNvPr id="15" name="Card"/>
          <p:cNvSpPr/>
          <p:nvPr/>
        </p:nvSpPr>
        <p:spPr>
          <a:xfrm>
            <a:off x="6388608" y="1371600"/>
            <a:ext cx="2331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Icon Tile"/>
          <p:cNvSpPr/>
          <p:nvPr/>
        </p:nvSpPr>
        <p:spPr>
          <a:xfrm>
            <a:off x="6662928" y="1600200"/>
            <a:ext cx="548640" cy="548640"/>
          </a:xfrm>
          <a:prstGeom prst="ellipse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17" name="Icon FaCog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5574" y="1742846"/>
            <a:ext cx="263347" cy="26334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62928" y="2286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 Leak Engine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6662928" y="2651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libmemtrack.so intercepts memory calls</a:t>
            </a:r>
            <a:endParaRPr lang="en-US" sz="1300" dirty="0"/>
          </a:p>
        </p:txBody>
      </p:sp>
      <p:pic>
        <p:nvPicPr>
          <p:cNvPr id="20" name="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9012" y="2286000"/>
            <a:ext cx="310896" cy="310896"/>
          </a:xfrm>
          <a:prstGeom prst="rect">
            <a:avLst/>
          </a:prstGeom>
        </p:spPr>
      </p:pic>
      <p:sp>
        <p:nvSpPr>
          <p:cNvPr id="21" name="Card"/>
          <p:cNvSpPr/>
          <p:nvPr/>
        </p:nvSpPr>
        <p:spPr>
          <a:xfrm>
            <a:off x="9308592" y="1371600"/>
            <a:ext cx="2331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2" name="Icon Tile"/>
          <p:cNvSpPr/>
          <p:nvPr/>
        </p:nvSpPr>
        <p:spPr>
          <a:xfrm>
            <a:off x="9582912" y="1600200"/>
            <a:ext cx="548640" cy="548640"/>
          </a:xfrm>
          <a:prstGeom prst="ellipse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23" name="Icon FaMemory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558" y="1742846"/>
            <a:ext cx="263347" cy="26334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582912" y="2286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 Program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9582912" y="2651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Allocates memory and leaks some on purpose</a:t>
            </a:r>
            <a:endParaRPr lang="en-US" sz="1300" dirty="0"/>
          </a:p>
        </p:txBody>
      </p:sp>
      <p:pic>
        <p:nvPicPr>
          <p:cNvPr id="26" name="Arrow Dow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3657600"/>
            <a:ext cx="310896" cy="310896"/>
          </a:xfrm>
          <a:prstGeom prst="rect">
            <a:avLst/>
          </a:prstGeom>
        </p:spPr>
      </p:pic>
      <p:sp>
        <p:nvSpPr>
          <p:cNvPr id="27" name="Report Card"/>
          <p:cNvSpPr/>
          <p:nvPr/>
        </p:nvSpPr>
        <p:spPr>
          <a:xfrm>
            <a:off x="3840480" y="4114800"/>
            <a:ext cx="4507992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</p:spPr>
      </p:sp>
      <p:sp>
        <p:nvSpPr>
          <p:cNvPr id="28" name="Icon Tile"/>
          <p:cNvSpPr/>
          <p:nvPr/>
        </p:nvSpPr>
        <p:spPr>
          <a:xfrm>
            <a:off x="4114800" y="438912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F5A524"/>
          </a:solidFill>
          <a:ln/>
        </p:spPr>
      </p:sp>
      <p:pic>
        <p:nvPicPr>
          <p:cNvPr id="29" name="Icon FaFileAlt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9334" y="4543654"/>
            <a:ext cx="285293" cy="285293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93776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Leak Report</a:t>
            </a:r>
            <a:endParaRPr lang="en-US" sz="1700" dirty="0"/>
          </a:p>
        </p:txBody>
      </p:sp>
      <p:sp>
        <p:nvSpPr>
          <p:cNvPr id="31" name="Text 20"/>
          <p:cNvSpPr txBox="1"/>
          <p:nvPr/>
        </p:nvSpPr>
        <p:spPr>
          <a:xfrm>
            <a:off x="4937760" y="4773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Records leaks and memory usage with timestamps</a:t>
            </a:r>
            <a:endParaRPr lang="en-US" sz="1300" dirty="0"/>
          </a:p>
        </p:txBody>
      </p:sp>
      <p:sp>
        <p:nvSpPr>
          <p:cNvPr id="32" name="Text 21"/>
          <p:cNvSpPr txBox="1"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GUI launches the program with libmemtrack.so preloaded; the library tracks its memory calls.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Working Methodology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Step Badge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Start analysis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70048"/>
            <a:ext cx="201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user clicks Start in the GUI.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90138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Step Badge"/>
          <p:cNvSpPr/>
          <p:nvPr/>
        </p:nvSpPr>
        <p:spPr>
          <a:xfrm>
            <a:off x="3664458" y="162763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6445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64458" y="228600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Preload tracker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64458" y="2670048"/>
            <a:ext cx="201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GUI launches the program with LD_PRELOAD set.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31636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Step Badge"/>
          <p:cNvSpPr/>
          <p:nvPr/>
        </p:nvSpPr>
        <p:spPr>
          <a:xfrm>
            <a:off x="6505956" y="162763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595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05956" y="228600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Track allocations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2670048"/>
            <a:ext cx="201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malloc() and free() calls are recorded.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073134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Step Badge"/>
          <p:cNvSpPr/>
          <p:nvPr/>
        </p:nvSpPr>
        <p:spPr>
          <a:xfrm>
            <a:off x="9347454" y="162763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4745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47454" y="228600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Monitor memory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347454" y="2670048"/>
            <a:ext cx="201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VmRSS is read from /proc at regular intervals.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Step Badge"/>
          <p:cNvSpPr/>
          <p:nvPr/>
        </p:nvSpPr>
        <p:spPr>
          <a:xfrm>
            <a:off x="822960" y="400507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66344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Find leaks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047488"/>
            <a:ext cx="201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Blocks that were never freed are identified.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3390138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9" name="Step Badge"/>
          <p:cNvSpPr/>
          <p:nvPr/>
        </p:nvSpPr>
        <p:spPr>
          <a:xfrm>
            <a:off x="3664458" y="400507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64458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664458" y="466344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Report results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3664458" y="5047488"/>
            <a:ext cx="201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GUI shows leaks and saves a report file.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6231636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4" name="Step Badge"/>
          <p:cNvSpPr/>
          <p:nvPr/>
        </p:nvSpPr>
        <p:spPr>
          <a:xfrm>
            <a:off x="6505956" y="400507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05956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505956" y="466344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Stop analysis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505956" y="5047488"/>
            <a:ext cx="201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user clicks Stop for a controlled shutdown.</a:t>
            </a:r>
            <a:endParaRPr lang="en-US" sz="1400" dirty="0"/>
          </a:p>
        </p:txBody>
      </p:sp>
      <p:sp>
        <p:nvSpPr>
          <p:cNvPr id="38" name="Loop Card"/>
          <p:cNvSpPr/>
          <p:nvPr/>
        </p:nvSpPr>
        <p:spPr>
          <a:xfrm>
            <a:off x="9073134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39" name="Icon Tile"/>
          <p:cNvSpPr/>
          <p:nvPr/>
        </p:nvSpPr>
        <p:spPr>
          <a:xfrm>
            <a:off x="9347454" y="4005072"/>
            <a:ext cx="457200" cy="457200"/>
          </a:xfrm>
          <a:prstGeom prst="ellipse">
            <a:avLst>
              <a:gd name="adj" fmla="val 20000"/>
            </a:avLst>
          </a:prstGeom>
          <a:solidFill>
            <a:srgbClr val="F5A524"/>
          </a:solidFill>
          <a:ln/>
        </p:spPr>
      </p:sp>
      <p:pic>
        <p:nvPicPr>
          <p:cNvPr id="40" name="Icon FaSyncAl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6326" y="4123944"/>
            <a:ext cx="219456" cy="219456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9347454" y="4663440"/>
            <a:ext cx="201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Steps 3 and 4 repeat while the program is running.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Operating System Concepts Used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Code Chip"/>
          <p:cNvSpPr/>
          <p:nvPr/>
        </p:nvSpPr>
        <p:spPr>
          <a:xfrm>
            <a:off x="822960" y="1627632"/>
            <a:ext cx="2965704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malloc() / free()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Dynamic memory allocation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7004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Request and release heap memory at run time.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7304" y="137160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Code Chip"/>
          <p:cNvSpPr/>
          <p:nvPr/>
        </p:nvSpPr>
        <p:spPr>
          <a:xfrm>
            <a:off x="4611624" y="1627632"/>
            <a:ext cx="2965704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1624" y="162763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brk() / mmap()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1624" y="22860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Heap management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1624" y="267004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System calls that grow the process heap.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5968" y="137160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Code Chip"/>
          <p:cNvSpPr/>
          <p:nvPr/>
        </p:nvSpPr>
        <p:spPr>
          <a:xfrm>
            <a:off x="8400288" y="1627632"/>
            <a:ext cx="2965704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00288" y="162763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memory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00288" y="228600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Address space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00288" y="267004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Leaked memory stays allocated until exit.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74904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Code Chip"/>
          <p:cNvSpPr/>
          <p:nvPr/>
        </p:nvSpPr>
        <p:spPr>
          <a:xfrm>
            <a:off x="822960" y="4005072"/>
            <a:ext cx="2965704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00507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/proc/[pid]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634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Memory statistics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4748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VmSize and VmRSS show memory usage.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337304" y="374904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Code Chip"/>
          <p:cNvSpPr/>
          <p:nvPr/>
        </p:nvSpPr>
        <p:spPr>
          <a:xfrm>
            <a:off x="4611624" y="4005072"/>
            <a:ext cx="2965704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11624" y="400507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LD_PRELOAD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611624" y="46634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Dynamic linking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11624" y="504748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Loads the tracker ahead of libc.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125968" y="374904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9" name="Code Chip"/>
          <p:cNvSpPr/>
          <p:nvPr/>
        </p:nvSpPr>
        <p:spPr>
          <a:xfrm>
            <a:off x="8400288" y="4005072"/>
            <a:ext cx="2965704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00288" y="400507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/ exec()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400288" y="46634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Process control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400288" y="5047488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Launch and stop the target program.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 and Modules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14344" cy="452628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MODULE 1</a:t>
            </a:r>
            <a:endParaRPr lang="en-US" sz="1100" dirty="0"/>
          </a:p>
        </p:txBody>
      </p:sp>
      <p:sp>
        <p:nvSpPr>
          <p:cNvPr id="5" name="Icon Tile"/>
          <p:cNvSpPr/>
          <p:nvPr/>
        </p:nvSpPr>
        <p:spPr>
          <a:xfrm>
            <a:off x="82296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6" name="Icon FaCog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Leak Detection Engine</a:t>
            </a:r>
            <a:endParaRPr lang="en-US" sz="1800" dirty="0"/>
          </a:p>
        </p:txBody>
      </p:sp>
      <p:sp>
        <p:nvSpPr>
          <p:cNvPr id="8" name="Code Chip"/>
          <p:cNvSpPr/>
          <p:nvPr/>
        </p:nvSpPr>
        <p:spPr>
          <a:xfrm>
            <a:off x="822960" y="2788920"/>
            <a:ext cx="2965704" cy="41148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78892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libmemtrack.c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429000"/>
            <a:ext cx="29657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Intercepts malloc, calloc, realloc and free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Stores each live allocation in a table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Lists unfreed blocks at program exit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Counts leaked blocks and bytes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37304" y="1371600"/>
            <a:ext cx="3514344" cy="452628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1624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MODULE 2</a:t>
            </a:r>
            <a:endParaRPr lang="en-US" sz="1100" dirty="0"/>
          </a:p>
        </p:txBody>
      </p:sp>
      <p:sp>
        <p:nvSpPr>
          <p:cNvPr id="13" name="Icon Tile"/>
          <p:cNvSpPr/>
          <p:nvPr/>
        </p:nvSpPr>
        <p:spPr>
          <a:xfrm>
            <a:off x="4611624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14" name="Icon FaMemory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270" y="210860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7424" y="1965960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Program</a:t>
            </a:r>
            <a:endParaRPr lang="en-US" sz="1800" dirty="0"/>
          </a:p>
        </p:txBody>
      </p:sp>
      <p:sp>
        <p:nvSpPr>
          <p:cNvPr id="16" name="Code Chip"/>
          <p:cNvSpPr/>
          <p:nvPr/>
        </p:nvSpPr>
        <p:spPr>
          <a:xfrm>
            <a:off x="4611624" y="2788920"/>
            <a:ext cx="2965704" cy="41148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11624" y="278892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leaky_app.c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611624" y="3429000"/>
            <a:ext cx="29657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Acts as the monitored application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Allocates memory in a loop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Frees only some blocks on purpose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Helps demonstrate leak detection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8125968" y="1371600"/>
            <a:ext cx="3514344" cy="452628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400288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MODULE 3</a:t>
            </a:r>
            <a:endParaRPr lang="en-US" sz="1100" dirty="0"/>
          </a:p>
        </p:txBody>
      </p:sp>
      <p:sp>
        <p:nvSpPr>
          <p:cNvPr id="21" name="Icon Tile"/>
          <p:cNvSpPr/>
          <p:nvPr/>
        </p:nvSpPr>
        <p:spPr>
          <a:xfrm>
            <a:off x="8400288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1433"/>
          </a:solidFill>
          <a:ln/>
        </p:spPr>
      </p:sp>
      <p:pic>
        <p:nvPicPr>
          <p:cNvPr id="22" name="Icon FaDeskto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934" y="2108606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86088" y="1965960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GUI Dashboard</a:t>
            </a:r>
            <a:endParaRPr lang="en-US" sz="1800" dirty="0"/>
          </a:p>
        </p:txBody>
      </p:sp>
      <p:sp>
        <p:nvSpPr>
          <p:cNvPr id="24" name="Code Chip"/>
          <p:cNvSpPr/>
          <p:nvPr/>
        </p:nvSpPr>
        <p:spPr>
          <a:xfrm>
            <a:off x="8400288" y="2788920"/>
            <a:ext cx="2965704" cy="41148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400288" y="278892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dashboard.py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8400288" y="3429000"/>
            <a:ext cx="29657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Provides Start and Stop buttons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Displays PID, RSS and detected leaks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Shows process status and memory usage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Writes timestamped leak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Testing and Results</a:t>
            </a:r>
            <a:endParaRPr lang="en-US" sz="3200" dirty="0"/>
          </a:p>
        </p:txBody>
      </p:sp>
      <p:graphicFrame>
        <p:nvGraphicFramePr>
          <p:cNvPr id="12" name="Te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1695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Start analysis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Target program starts with the tracker loaded.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Allocate and free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Freed blocks are not reported as leaks.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Intentional leak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Unfreed blocks are detected and listed with sizes.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Memory growth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VmRSS increase is displayed while the program runs.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Report generation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Timestamped report with leaked blocks and bytes is created.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Stop analysis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Target program stops and the tracker cleans up.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sult Card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/>
        </p:spPr>
      </p:sp>
      <p:sp>
        <p:nvSpPr>
          <p:cNvPr id="5" name="Icon Tile"/>
          <p:cNvSpPr/>
          <p:nvPr/>
        </p:nvSpPr>
        <p:spPr>
          <a:xfrm>
            <a:off x="777240" y="5440680"/>
            <a:ext cx="502920" cy="502920"/>
          </a:xfrm>
          <a:prstGeom prst="ellipse">
            <a:avLst>
              <a:gd name="adj" fmla="val 18182"/>
            </a:avLst>
          </a:prstGeom>
          <a:solidFill>
            <a:srgbClr val="F5A524"/>
          </a:solidFill>
          <a:ln/>
        </p:spPr>
      </p:sp>
      <p:pic>
        <p:nvPicPr>
          <p:cNvPr id="6" name="Icon FaClipboard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5571439"/>
            <a:ext cx="241402" cy="2414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53035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Expected result: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tool reports every unfreed block, the total leaked bytes, and the growth in memory usage.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Advantages, Limitations and Future Scope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14344" cy="452628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4" name="Icon Tile"/>
          <p:cNvSpPr/>
          <p:nvPr/>
        </p:nvSpPr>
        <p:spPr>
          <a:xfrm>
            <a:off x="822960" y="1645920"/>
            <a:ext cx="548640" cy="548640"/>
          </a:xfrm>
          <a:prstGeom prst="ellipse">
            <a:avLst>
              <a:gd name="adj" fmla="val 16667"/>
            </a:avLst>
          </a:prstGeom>
          <a:solidFill>
            <a:srgbClr val="2DB38A"/>
          </a:solidFill>
          <a:ln/>
        </p:spPr>
      </p:sp>
      <p:pic>
        <p:nvPicPr>
          <p:cNvPr id="5" name="Icon FaThumbs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885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Advantages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657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Reduces manual leak hunting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Detects unfreed blocks automatically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Simple graphical interface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Timestamped reports for debugging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Teaches Linux memory management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7304" y="1371600"/>
            <a:ext cx="3514344" cy="452628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9" name="Icon Tile"/>
          <p:cNvSpPr/>
          <p:nvPr/>
        </p:nvSpPr>
        <p:spPr>
          <a:xfrm>
            <a:off x="4611624" y="1645920"/>
            <a:ext cx="548640" cy="548640"/>
          </a:xfrm>
          <a:prstGeom prst="ellipse">
            <a:avLst>
              <a:gd name="adj" fmla="val 16667"/>
            </a:avLst>
          </a:prstGeom>
          <a:solidFill>
            <a:srgbClr val="F5A524"/>
          </a:solidFill>
          <a:ln/>
        </p:spPr>
      </p:sp>
      <p:pic>
        <p:nvPicPr>
          <p:cNvPr id="10" name="Icon FaExclamationTriang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270" y="17885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3144" y="1645920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Current limitations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1624" y="2514600"/>
            <a:ext cx="29657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Monitors a controlled test program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Tracks malloc-family calls only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Adds some run-time overhead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 project demo, not a production profiler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5968" y="1371600"/>
            <a:ext cx="3514344" cy="452628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14" name="Icon Tile"/>
          <p:cNvSpPr/>
          <p:nvPr/>
        </p:nvSpPr>
        <p:spPr>
          <a:xfrm>
            <a:off x="8400288" y="1645920"/>
            <a:ext cx="548640" cy="548640"/>
          </a:xfrm>
          <a:prstGeom prst="ellipse">
            <a:avLst>
              <a:gd name="adj" fmla="val 16667"/>
            </a:avLst>
          </a:prstGeom>
          <a:solidFill>
            <a:srgbClr val="7C5CFF"/>
          </a:solidFill>
          <a:ln/>
        </p:spPr>
      </p:sp>
      <p:pic>
        <p:nvPicPr>
          <p:cNvPr id="15" name="Icon FaRock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934" y="178856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31808" y="1645920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Future enhancements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00288" y="2514600"/>
            <a:ext cx="29657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Analyze multiple programs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Show the call stack of each leak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Graphs of memory usage over time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Detect double free and use-after-free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Config files and report export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Check Badge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361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Demonstrates automatic memory leak detection and reporting in Linux.</a:t>
            </a:r>
            <a:endParaRPr lang="en-US" sz="2000" dirty="0"/>
          </a:p>
        </p:txBody>
      </p:sp>
      <p:sp>
        <p:nvSpPr>
          <p:cNvPr id="6" name="Check Badge"/>
          <p:cNvSpPr/>
          <p:nvPr/>
        </p:nvSpPr>
        <p:spPr>
          <a:xfrm>
            <a:off x="548640" y="216712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86000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1214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Uses a C tracking library to intercept malloc() and free() calls.</a:t>
            </a:r>
            <a:endParaRPr lang="en-US" sz="2000" dirty="0"/>
          </a:p>
        </p:txBody>
      </p:sp>
      <p:sp>
        <p:nvSpPr>
          <p:cNvPr id="9" name="Check Badge"/>
          <p:cNvSpPr/>
          <p:nvPr/>
        </p:nvSpPr>
        <p:spPr>
          <a:xfrm>
            <a:off x="548640" y="291693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3580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8712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 Python Tkinter dashboard makes the analysis easier to control and observe.</a:t>
            </a:r>
            <a:endParaRPr lang="en-US" sz="2000" dirty="0"/>
          </a:p>
        </p:txBody>
      </p:sp>
      <p:sp>
        <p:nvSpPr>
          <p:cNvPr id="12" name="Check Badge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78561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62102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Timestamped reports help locate leaked memory and track its growth.</a:t>
            </a:r>
            <a:endParaRPr lang="en-US" sz="2000" dirty="0"/>
          </a:p>
        </p:txBody>
      </p:sp>
      <p:sp>
        <p:nvSpPr>
          <p:cNvPr id="15" name="Check Badge"/>
          <p:cNvSpPr/>
          <p:nvPr/>
        </p:nvSpPr>
        <p:spPr>
          <a:xfrm>
            <a:off x="548640" y="441655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535424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370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Applies key Operating Systems concepts to a practical problem.</a:t>
            </a:r>
            <a:endParaRPr lang="en-US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5349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mory Leak Violet">
  <a:themeElements>
    <a:clrScheme name="Memory Leak Violet">
      <a:dk1>
        <a:srgbClr val="1E1433"/>
      </a:dk1>
      <a:lt1>
        <a:srgbClr val="FFFFFF"/>
      </a:lt1>
      <a:dk2>
        <a:srgbClr val="3A2A63"/>
      </a:dk2>
      <a:lt2>
        <a:srgbClr val="F1ECFA"/>
      </a:lt2>
      <a:accent1>
        <a:srgbClr val="F5A524"/>
      </a:accent1>
      <a:accent2>
        <a:srgbClr val="7C5CFF"/>
      </a:accent2>
      <a:accent3>
        <a:srgbClr val="E5484D"/>
      </a:accent3>
      <a:accent4>
        <a:srgbClr val="2DB38A"/>
      </a:accent4>
      <a:accent5>
        <a:srgbClr val="3B82F6"/>
      </a:accent5>
      <a:accent6>
        <a:srgbClr val="B388FF"/>
      </a:accent6>
      <a:hlink>
        <a:srgbClr val="7C5CFF"/>
      </a:hlink>
      <a:folHlink>
        <a:srgbClr val="3A2A63"/>
      </a:folHlink>
    </a:clrScheme>
    <a:fontScheme name="Memory Leak Viol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Leak Detection and Reporting Tool</dc:title>
  <dc:subject>PptxGenJS Presentation</dc:subject>
  <dc:creator>K. Badari Narayana, D. Varun Teja Reddy, P. Bhavan</dc:creator>
  <cp:lastModifiedBy>K. Badari Narayana, D. Varun Teja Reddy, P. Bhavan</cp:lastModifiedBy>
  <cp:revision>1</cp:revision>
  <dcterms:created xsi:type="dcterms:W3CDTF">2026-10-17T05:55:09Z</dcterms:created>
  <dcterms:modified xsi:type="dcterms:W3CDTF">2026-10-17T05:55:09Z</dcterms:modified>
</cp:coreProperties>
</file>